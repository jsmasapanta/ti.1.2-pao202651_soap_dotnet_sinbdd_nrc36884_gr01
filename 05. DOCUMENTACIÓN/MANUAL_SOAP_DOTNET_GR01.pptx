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59edbb09-a4e9-c6f1-a561-bfd0ba1fb7a2}">
          <p14:sldIdLst>
            <p14:sldId id="256"/>
          </p14:sldIdLst>
        </p14:section>
        <p14:section name="Solución" id="{b873dfe4-c880-08d0-35bc-fef99721f38f}">
          <p14:sldIdLst>
            <p14:sldId id="257"/>
            <p14:sldId id="258"/>
            <p14:sldId id="259"/>
            <p14:sldId id="260"/>
            <p14:sldId id="261"/>
          </p14:sldIdLst>
        </p14:section>
        <p14:section name="Clientes" id="{d7a7028b-8dce-1ac7-6ddd-306a978e48bc}">
          <p14:sldIdLst>
            <p14:sldId id="262"/>
            <p14:sldId id="263"/>
            <p14:sldId id="264"/>
            <p14:sldId id="265"/>
            <p14:sldId id="266"/>
          </p14:sldIdLst>
        </p14:section>
        <p14:section name="Calidad" id="{248246f6-2da4-4377-6f57-e8b761c644fe}">
          <p14:sldIdLst>
            <p14:sldId id="267"/>
            <p14:sldId id="268"/>
          </p14:sldIdLst>
        </p14:section>
        <p14:section name="Cierre" id="{fbdf9200-35f4-ddc4-ca6d-9a13120196d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TI.1.2: un servicio SOAP en .NET sin base de datos y cuatro clientes que lo consumen.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lógica está en un solo lugar (el servidor) y cuatro tecnologías distintas la consumen por SOAP.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clientes hablan SOAP sobre HTTP con WSConversion.svc. El servidor se organiza en Contratos, Servicios y Lógica; las credenciales están en Web.config.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conversiones reciben un único parámetro 'valor'. Eso simplifica los cuatro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izquierda, la petición que envían los clientes. A la derecha, la respuesta correcta y el Fault cuando el valor es imposible.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Mejoras que hacen al sistema más correcto, más fácil de mantener y más claro para 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más simple: sirve para comprobar que el servicio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clase PanelConversion sirve para las tres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diseño que el escritorio; en celular el menú pasa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Aplicación MAUI instalada en una tablet Samsung; se conecta al servidor IIS por la IP de la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usa su propio equipo; el servidor se publica en IIS y los clientes apuntan a la IP de la PC del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en el ECUD: actores, flujos básicos y alternos de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se ejecutaron con IIS Express y luego en red: servidor en IIS y cada integrante en su propio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0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ESPE · Arquitectura de Software · Conversor de Unidades SOAP 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nia ⇄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E1D7"/>
                </a:solidFill>
              </a:rPr>
              <a:t>UNIVERSIDAD DE LAS FUERZAS ARMADAS ESPE · ARQUITECTURA DE SOFTWARE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234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E1D7"/>
                </a:solidFill>
              </a:rPr>
              <a:t>TI.1.2 · PAO 2026-51 · NRC 36884 · Grupo 1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Conversor de Unidades SOAP .NET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Servicio web SOAP sin base de datos para temperatura, longitud y masa, con clientes de consola, escritorio, web y móvil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</a:rPr>
              <a:t>Wilmer Buestan · Jefferson Masapanta · Moises Benalcazar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</a:rPr>
              <a:t>Tutor: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</a:rPr>
              <a:t>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</a:rPr>
              <a:t>Fecha: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</a:rPr>
              <a:t>28/10/2026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 servicio, cuatro clientes</a:t>
            </a:r>
            <a:endParaRPr lang="en-US" sz="3400" dirty="0"/>
          </a:p>
        </p:txBody>
      </p:sp>
      <p:sp>
        <p:nvSpPr>
          <p:cNvPr id="4" name="Cifra 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servicio SOAP en WCF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publicado en IIS</a:t>
            </a:r>
            <a:endParaRPr lang="en-US" sz="1600" dirty="0"/>
          </a:p>
        </p:txBody>
      </p:sp>
      <p:sp>
        <p:nvSpPr>
          <p:cNvPr id="7" name="Cifra 4"/>
          <p:cNvSpPr/>
          <p:nvPr/>
        </p:nvSpPr>
        <p:spPr>
          <a:xfrm>
            <a:off x="3364992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64992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4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clientes: consola,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escritorio, web y móvil</a:t>
            </a:r>
            <a:endParaRPr lang="en-US" sz="1600" dirty="0"/>
          </a:p>
        </p:txBody>
      </p:sp>
      <p:sp>
        <p:nvSpPr>
          <p:cNvPr id="10" name="Cifra 16"/>
          <p:cNvSpPr/>
          <p:nvPr/>
        </p:nvSpPr>
        <p:spPr>
          <a:xfrm>
            <a:off x="6181344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16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conversiones 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 categorías + login</a:t>
            </a:r>
            <a:endParaRPr lang="en-US" sz="1600" dirty="0"/>
          </a:p>
        </p:txBody>
      </p:sp>
      <p:sp>
        <p:nvSpPr>
          <p:cNvPr id="13" name="Cifra 0"/>
          <p:cNvSpPr/>
          <p:nvPr/>
        </p:nvSpPr>
        <p:spPr>
          <a:xfrm>
            <a:off x="8997696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97696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4"/>
                </a:solidFill>
              </a:rPr>
              <a:t>0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bases de datos: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todo en memoria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Objetivo: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demostrar la interoperabilidad de SOAP: el mismo contrato WSDL lo consumen .NET Framework, .NET 8 y .NET MAUI en Android sin cambiar el servidor.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Arquitectura de la solución</a:t>
            </a:r>
            <a:endParaRPr lang="en-US" sz="3400" dirty="0"/>
          </a:p>
        </p:txBody>
      </p:sp>
      <p:pic>
        <p:nvPicPr>
          <p:cNvPr id="4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69" y="1234440"/>
            <a:ext cx="5612183" cy="4983480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SOAP 1.1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basicHttpBinding sobre HTTP, puerto 8085</a:t>
            </a:r>
            <a:endParaRPr lang="en-US" sz="1400" dirty="0"/>
          </a:p>
        </p:txBody>
      </p:sp>
      <p:sp>
        <p:nvSpPr>
          <p:cNvPr id="9" name="Insignia 2"/>
          <p:cNvSpPr/>
          <p:nvPr/>
        </p:nvSpPr>
        <p:spPr>
          <a:xfrm>
            <a:off x="786384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WSDL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…/WSConversion.svc?wsdl describe el contrato</a:t>
            </a:r>
            <a:endParaRPr lang="en-US" sz="1400" dirty="0"/>
          </a:p>
        </p:txBody>
      </p:sp>
      <p:sp>
        <p:nvSpPr>
          <p:cNvPr id="13" name="Insignia 3"/>
          <p:cNvSpPr/>
          <p:nvPr/>
        </p:nvSpPr>
        <p:spPr>
          <a:xfrm>
            <a:off x="7863840" y="3794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Capas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Contratos → Servicios → Lógica</a:t>
            </a:r>
            <a:endParaRPr lang="en-US" sz="1400" dirty="0"/>
          </a:p>
        </p:txBody>
      </p:sp>
      <p:sp>
        <p:nvSpPr>
          <p:cNvPr id="17" name="Insignia 4"/>
          <p:cNvSpPr/>
          <p:nvPr/>
        </p:nvSpPr>
        <p:spPr>
          <a:xfrm>
            <a:off x="7863840" y="4983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638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Sin BDD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Credenciales en Web.config, cálculo en memoria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contrato WSConversion</a:t>
            </a:r>
            <a:endParaRPr lang="en-US" sz="3400" dirty="0"/>
          </a:p>
        </p:txBody>
      </p:sp>
      <p:sp>
        <p:nvSpPr>
          <p:cNvPr id="4" name="Categoría Temperatura"/>
          <p:cNvSpPr/>
          <p:nvPr/>
        </p:nvSpPr>
        <p:spPr>
          <a:xfrm>
            <a:off x="54864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°C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°C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Temperatura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celsiusAFahrenheit(valor)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fahrenheitACelsius(valor)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celsiusAKelvin(valor)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kelvinACelsius(valor)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fahrenheitAKelvin(valor)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kelvinAFahrenheit(valor)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Nunca bajo el cero absoluto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(−273.15 °C · −459.67 °F · 0 K)</a:t>
            </a:r>
            <a:endParaRPr lang="en-US" sz="1300" dirty="0"/>
          </a:p>
        </p:txBody>
      </p:sp>
      <p:sp>
        <p:nvSpPr>
          <p:cNvPr id="10" name="Categoría Longitud"/>
          <p:cNvSpPr/>
          <p:nvPr/>
        </p:nvSpPr>
        <p:spPr>
          <a:xfrm>
            <a:off x="429768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m"/>
          <p:cNvSpPr/>
          <p:nvPr/>
        </p:nvSpPr>
        <p:spPr>
          <a:xfrm>
            <a:off x="4526280" y="15087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Longitud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metrosAPies(valor)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piesAMetros(valor)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metrosAPulgadas(valor)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pulgadasAMetros(valor)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kilometrosAMillas(valor)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millasAKilometros(valor)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 negativa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1 ft = 0.3048 m · 1 mi = 1.609344 km</a:t>
            </a:r>
            <a:endParaRPr lang="en-US" sz="1300" dirty="0"/>
          </a:p>
        </p:txBody>
      </p:sp>
      <p:sp>
        <p:nvSpPr>
          <p:cNvPr id="16" name="Categoría Masa"/>
          <p:cNvSpPr/>
          <p:nvPr/>
        </p:nvSpPr>
        <p:spPr>
          <a:xfrm>
            <a:off x="804672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kg"/>
          <p:cNvSpPr/>
          <p:nvPr/>
        </p:nvSpPr>
        <p:spPr>
          <a:xfrm>
            <a:off x="8275320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Masa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kilogramosALibras(valor)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librasAKilogramos(valor)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gramosAOnzas(valor)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onzasAGramos(valor)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 negativa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1 lb = 0.45359237 kg · 1 oz = 28.349523125 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+ login(usuario, clave) → bool     ·     Errores: SOAP Fault con ErrorServicio { Codigo, Mensaje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Así viaja una conversión por SOAP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Petición</a:t>
            </a:r>
            <a:endParaRPr lang="en-US" sz="1800" dirty="0"/>
          </a:p>
        </p:txBody>
      </p:sp>
      <p:sp>
        <p:nvSpPr>
          <p:cNvPr id="5" name="Caja petición"/>
          <p:cNvSpPr/>
          <p:nvPr/>
        </p:nvSpPr>
        <p:spPr>
          <a:xfrm>
            <a:off x="548640" y="1645920"/>
            <a:ext cx="548640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37490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/WSConversion.svc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SOAPAction: "http://espe.edu.ec/conuni/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WSConversion/celsiusAFahrenheit"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&lt;s:Envelope xmlns:s="...soap/envelope/"&gt;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&lt;s:Body&gt;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&lt;celsiusAFahrenheit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xmlns="http://espe.edu.ec/conuni/"&gt;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&lt;valor&gt;100&lt;/valor&gt;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&lt;/celsiusAFahrenheit&gt;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&lt;/s:Body&gt;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&lt;/s:Envelope&gt;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Respuesta correcta</a:t>
            </a:r>
            <a:endParaRPr lang="en-US" sz="1800" dirty="0"/>
          </a:p>
        </p:txBody>
      </p:sp>
      <p:sp>
        <p:nvSpPr>
          <p:cNvPr id="8" name="Caja respuesta"/>
          <p:cNvSpPr/>
          <p:nvPr/>
        </p:nvSpPr>
        <p:spPr>
          <a:xfrm>
            <a:off x="6400800" y="1645920"/>
            <a:ext cx="52120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&lt;celsiusAFahrenheitResponse&gt;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&lt;celsiusAFahrenheitResult&gt;212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&lt;/celsiusAFahrenheitResult&gt;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&lt;/celsiusAFahrenheitResponse&gt;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200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Valor imposible (−300 °C)</a:t>
            </a:r>
            <a:endParaRPr lang="en-US" sz="1800" dirty="0"/>
          </a:p>
        </p:txBody>
      </p:sp>
      <p:sp>
        <p:nvSpPr>
          <p:cNvPr id="11" name="Caja fault"/>
          <p:cNvSpPr/>
          <p:nvPr/>
        </p:nvSpPr>
        <p:spPr>
          <a:xfrm>
            <a:off x="6400800" y="36118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DF1EF"/>
          </a:solidFill>
          <a:ln w="12700">
            <a:solidFill>
              <a:srgbClr val="F2C4B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703320"/>
            <a:ext cx="5029200" cy="18288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&lt;s:Fault&gt;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&lt;faultcode&gt;s:Client&lt;/faultcode&gt;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&lt;detail&gt;&lt;ErrorServicio&gt;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&lt;Codigo&gt;VALOR_INVALIDO&lt;/Codigo&gt;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&lt;Mensaje&gt;La temperatura no puede 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menor al cero absoluto...&lt;/Mensaje&gt;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Decisiones de diseño</a:t>
            </a:r>
            <a:endParaRPr lang="en-US" sz="3400" dirty="0"/>
          </a:p>
        </p:txBody>
      </p:sp>
      <p:sp>
        <p:nvSpPr>
          <p:cNvPr id="4" name="Decisión 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Factores exactos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0.3048 m, 0.45359237 kg… en lugar de aproximaciones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Insignia 2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Validación en el servidor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Valores imposibles responden SOAP Fault con mensaje claro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Insignia 3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Servidor configurable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App.config, appsettings.json y ajustes en el móvil: sin recompilar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Insignia 4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pantalla para todo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Catálogo de 16 conversiones; la misma vista sirve a las 3 categorías</a:t>
            </a:r>
            <a:endParaRPr lang="en-US" sz="1400" dirty="0"/>
          </a:p>
        </p:txBody>
      </p:sp>
      <p:sp>
        <p:nvSpPr>
          <p:cNvPr id="24" name="Decisión 5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Insignia 5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Clientes que no se congelan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Llamadas asíncronas en escritorio, web y móvil</a:t>
            </a:r>
            <a:endParaRPr lang="en-US" sz="1400" dirty="0"/>
          </a:p>
        </p:txBody>
      </p:sp>
      <p:sp>
        <p:nvSpPr>
          <p:cNvPr id="29" name="Decisión 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Insignia 6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Patrón Singleton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sola instancia de Autenticador, ClienteConversion y ClienteSoap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Cliente de consola · CLICON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.NET Framework 4.7.2 · ChannelFactory · MVC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Login con clave oculta (los 3 intentos los cuenta el servidor)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Menú de categorías y conversiones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Acepta coma o punto decimal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Mensajes en colores: verde éxito, rojo error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URL del servidor en App.config</a:t>
            </a:r>
            <a:endParaRPr lang="en-US" sz="1500" dirty="0"/>
          </a:p>
        </p:txBody>
      </p:sp>
      <p:sp>
        <p:nvSpPr>
          <p:cNvPr id="6" name="Marco Menú de la consola"/>
          <p:cNvSpPr/>
          <p:nvPr/>
        </p:nvSpPr>
        <p:spPr>
          <a:xfrm>
            <a:off x="6733880" y="1152144"/>
            <a:ext cx="2579959" cy="2404872"/>
          </a:xfrm>
          <a:prstGeom prst="rect">
            <a:avLst/>
          </a:prstGeom>
          <a:solidFill>
            <a:schemeClr val="bg1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enú de la consola" descr="Menú de la cons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456" y="1188720"/>
            <a:ext cx="2506807" cy="2331720"/>
          </a:xfrm>
          <a:prstGeom prst="rect">
            <a:avLst/>
          </a:prstGeom>
        </p:spPr>
      </p:pic>
      <p:sp>
        <p:nvSpPr>
          <p:cNvPr id="8" name="Marco Resultado en la consola"/>
          <p:cNvSpPr/>
          <p:nvPr/>
        </p:nvSpPr>
        <p:spPr>
          <a:xfrm>
            <a:off x="6635574" y="3666744"/>
            <a:ext cx="2776572" cy="2587752"/>
          </a:xfrm>
          <a:prstGeom prst="rect">
            <a:avLst/>
          </a:prstGeom>
          <a:solidFill>
            <a:schemeClr val="bg1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Resultado en la consola" descr="Resultado en la conso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150" y="3703320"/>
            <a:ext cx="2703420" cy="2514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Cliente de escritorio · CLIESC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Windows Forms · .NET Framework 4.7.2 · llamadas asíncronas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Menú lateral con color por categoría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Listas De / A: solo destinos válidos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Botón ⇄ para intercambiar unidades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Historial de la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Errores en rojo dentro de la pantalla</a:t>
            </a:r>
            <a:endParaRPr lang="en-US" sz="1500" dirty="0"/>
          </a:p>
        </p:txBody>
      </p:sp>
      <p:sp>
        <p:nvSpPr>
          <p:cNvPr id="6" name="Marco Escritorio: cuadrícula Bento"/>
          <p:cNvSpPr/>
          <p:nvPr/>
        </p:nvSpPr>
        <p:spPr>
          <a:xfrm>
            <a:off x="4352544" y="1686501"/>
            <a:ext cx="7342632" cy="4490839"/>
          </a:xfrm>
          <a:prstGeom prst="rect">
            <a:avLst/>
          </a:prstGeom>
          <a:solidFill>
            <a:schemeClr val="bg1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Escritorio: cuadrícula Bento" descr="Escritorio: cuadrícula B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723077"/>
            <a:ext cx="7269480" cy="44176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Cliente web · CLIWEB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ASP.NET Core MVC · .NET 8 · System.ServiceModel.Http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Sesión: sin login no se entra a /Conversion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Contrato asíncrono (Task&lt;double&gt;)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Token antifalsificación en formularios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Historial guardado en la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Diseño adaptable a celular</a:t>
            </a:r>
            <a:endParaRPr lang="en-US" sz="1500" dirty="0"/>
          </a:p>
        </p:txBody>
      </p:sp>
      <p:sp>
        <p:nvSpPr>
          <p:cNvPr id="6" name="Marco Web: valor rechazado por el servidor"/>
          <p:cNvSpPr/>
          <p:nvPr/>
        </p:nvSpPr>
        <p:spPr>
          <a:xfrm>
            <a:off x="4652914" y="1655064"/>
            <a:ext cx="6741892" cy="4553712"/>
          </a:xfrm>
          <a:prstGeom prst="rect">
            <a:avLst/>
          </a:prstGeom>
          <a:solidFill>
            <a:schemeClr val="bg1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Web: valor rechazado por el servidor" descr="Web: valor rechazado por el serv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9490" y="1691640"/>
            <a:ext cx="666874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Cliente móvil · CLIMOV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.NET MAUI (sucesor de Xamarin) · C# · Android · HttpClient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Probado en una tablet real por WiFi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Sobre SOAP armado a mano + SOAPAction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XDocument lee el resultado o el Fault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Singleton: ClienteSoap y Controlador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URL del servidor guardada en la app</a:t>
            </a:r>
            <a:endParaRPr lang="en-US" sz="1500" dirty="0"/>
          </a:p>
        </p:txBody>
      </p:sp>
      <p:sp>
        <p:nvSpPr>
          <p:cNvPr id="6" name="Marco Móvil en la tablet"/>
          <p:cNvSpPr/>
          <p:nvPr/>
        </p:nvSpPr>
        <p:spPr>
          <a:xfrm>
            <a:off x="5891784" y="1609344"/>
            <a:ext cx="4264152" cy="2587752"/>
          </a:xfrm>
          <a:prstGeom prst="rect">
            <a:avLst/>
          </a:prstGeom>
          <a:solidFill>
            <a:schemeClr val="bg1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óvil en la tablet" descr="Móvil en l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360" y="1645920"/>
            <a:ext cx="4191000" cy="2514600"/>
          </a:xfrm>
          <a:prstGeom prst="rect">
            <a:avLst/>
          </a:prstGeom>
        </p:spPr>
      </p:pic>
      <p:sp>
        <p:nvSpPr>
          <p:cNvPr id="8" name="Caja código móvil"/>
          <p:cNvSpPr/>
          <p:nvPr/>
        </p:nvSpPr>
        <p:spPr>
          <a:xfrm>
            <a:off x="4389120" y="4297680"/>
            <a:ext cx="7269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389120"/>
            <a:ext cx="7086600" cy="1737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peticion = new HttpRequestMessage(HttpMethod.Post, destino)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new StringContent(sobre, Encoding.UTF8, "text/xml")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peticion.Headers.Add("SOAPAction", $"\"{Namespace}{Contrato}/{operacion}\"");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string? resultado = Buscar(operacion + "Result");   // o el &lt;Mensaje&gt; del Fault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Despliegue en red por roles</a:t>
            </a:r>
            <a:endParaRPr lang="en-US" sz="3400" dirty="0"/>
          </a:p>
        </p:txBody>
      </p:sp>
      <p:sp>
        <p:nvSpPr>
          <p:cNvPr id="4" name="Rol 1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Integrante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Servidor + consola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Publica WSConversion en IIS con publicar_iis.ps1 (puerto 8085 y firewall)</a:t>
            </a:r>
            <a:endParaRPr lang="en-US" sz="1500" dirty="0"/>
          </a:p>
        </p:txBody>
      </p:sp>
      <p:sp>
        <p:nvSpPr>
          <p:cNvPr id="10" name="Rol 2"/>
          <p:cNvSpPr/>
          <p:nvPr/>
        </p:nvSpPr>
        <p:spPr>
          <a:xfrm>
            <a:off x="429768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2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Integrante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Web + escritorio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Otra PC: App.config y appsettings.json con la IP del servidor</a:t>
            </a:r>
            <a:endParaRPr lang="en-US" sz="1500" dirty="0"/>
          </a:p>
        </p:txBody>
      </p:sp>
      <p:sp>
        <p:nvSpPr>
          <p:cNvPr id="16" name="Rol 3"/>
          <p:cNvSpPr/>
          <p:nvPr/>
        </p:nvSpPr>
        <p:spPr>
          <a:xfrm>
            <a:off x="804672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3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Integrante 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Móvil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Celular real por WiFi: URL del servidor en el login de la app</a:t>
            </a:r>
            <a:endParaRPr lang="en-US" sz="1500" dirty="0"/>
          </a:p>
        </p:txBody>
      </p:sp>
      <p:sp>
        <p:nvSpPr>
          <p:cNvPr id="22" name="Caja URL"/>
          <p:cNvSpPr/>
          <p:nvPr/>
        </p:nvSpPr>
        <p:spPr>
          <a:xfrm>
            <a:off x="548640" y="4434840"/>
            <a:ext cx="11109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434840"/>
            <a:ext cx="11109960" cy="10515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http://IP-DEL-SERVIDOR:8085/WSConversion.svc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IIS Express solo responde a localhost (400 si se usa la IP): por eso el servidor se publica en IIS. Todos en la misma red WiFi.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Casos de uso</a:t>
            </a:r>
            <a:endParaRPr lang="en-US" sz="3400" dirty="0"/>
          </a:p>
        </p:txBody>
      </p:sp>
      <p:pic>
        <p:nvPicPr>
          <p:cNvPr id="4" name="Diagrama de casos de uso" descr="Diagrama de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2184"/>
            <a:ext cx="7498080" cy="432799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8 casos de uso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Realizar conversión generaliza temperatura, longitud y masa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Incluye la validación del valor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Intercambiar unidades la extiende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Servicio SOAP es un actor secundario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Pruebas realizadas</a:t>
            </a:r>
            <a:endParaRPr lang="en-US" sz="3400" dirty="0"/>
          </a:p>
        </p:txBody>
      </p:sp>
      <p:sp>
        <p:nvSpPr>
          <p:cNvPr id="4" name="Resumen pruebas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15/15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casos de prueba superados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16/16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conversiones exactas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7726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574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Login correcto / incorrecto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monster / monster69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Acceso · «Intentos restantes: 2» (servidor)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Celsius → Fahrenheit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Millas → Kilómetros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1.609344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Kilogramos → Libras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2.204622622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Cero absoluto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−300 °C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SOAP Fault con mensaje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 red, 3 equipos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 del servidor IIS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Consola, escritorio, web y móvil 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Coma decimal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42,195 km → 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26.218757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Servidor apagado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puerto sin servicio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«No se pudo conectar…»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Página web sin sesión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/Conversion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Redirige al 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Conclusiones</a:t>
            </a:r>
            <a:endParaRPr lang="en-US" sz="4000" dirty="0"/>
          </a:p>
        </p:txBody>
      </p:sp>
      <p:sp>
        <p:nvSpPr>
          <p:cNvPr id="3" name="Insignia 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920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SOAP permitió que .NET Framework, .NET 8 y .NET MAUI (Android) consuman el mismo servicio sin tocar el servidor.</a:t>
            </a:r>
            <a:endParaRPr lang="en-US" sz="2100" dirty="0"/>
          </a:p>
        </p:txBody>
      </p:sp>
      <p:sp>
        <p:nvSpPr>
          <p:cNvPr id="6" name="Insignia 2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71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Validar en el servidor da resultados idénticos en los cuatro clientes y mensajes claros ante valores imposibles.</a:t>
            </a:r>
            <a:endParaRPr lang="en-US" sz="2100" dirty="0"/>
          </a:p>
        </p:txBody>
      </p:sp>
      <p:sp>
        <p:nvSpPr>
          <p:cNvPr id="9" name="Insignia 3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Capas en el servidor, MVC en los clientes y Singleton para los objetos compartidos: código simple de mantener.</a:t>
            </a:r>
            <a:endParaRPr lang="en-US" sz="2100" dirty="0"/>
          </a:p>
        </p:txBody>
      </p:sp>
      <p:sp>
        <p:nvSpPr>
          <p:cNvPr id="12" name="Insignia 4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Sin base de datos la arquitectura es simple, a cambio de credenciales fijas e historial solo por sesión.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versor ESPE">
  <a:themeElements>
    <a:clrScheme name="Conversor ESPE">
      <a:dk1>
        <a:srgbClr val="212529"/>
      </a:dk1>
      <a:lt1>
        <a:srgbClr val="FFFFFF"/>
      </a:lt1>
      <a:dk2>
        <a:srgbClr val="004A38"/>
      </a:dk2>
      <a:lt2>
        <a:srgbClr val="F3F6F5"/>
      </a:lt2>
      <a:accent1>
        <a:srgbClr val="006950"/>
      </a:accent1>
      <a:accent2>
        <a:srgbClr val="D65D0E"/>
      </a:accent2>
      <a:accent3>
        <a:srgbClr val="1971C2"/>
      </a:accent3>
      <a:accent4>
        <a:srgbClr val="7C3AAD"/>
      </a:accent4>
      <a:accent5>
        <a:srgbClr val="C0392B"/>
      </a:accent5>
      <a:accent6>
        <a:srgbClr val="6C757D"/>
      </a:accent6>
      <a:hlink>
        <a:srgbClr val="1971C2"/>
      </a:hlink>
      <a:folHlink>
        <a:srgbClr val="7C3AAD"/>
      </a:folHlink>
    </a:clrScheme>
    <a:fontScheme name="Conversor ESP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Conversor de Unidades SOAP .NET</dc:title>
  <dc:subject>PptxGenJS Presentation</dc:subject>
  <dc:creator>Grupo 1</dc:creator>
  <cp:lastModifiedBy>Grupo 1</cp:lastModifiedBy>
  <cp:revision>1</cp:revision>
  <dcterms:created xsi:type="dcterms:W3CDTF">2026-10-27T17:23:02Z</dcterms:created>
  <dcterms:modified xsi:type="dcterms:W3CDTF">2026-10-27T17:23:02Z</dcterms:modified>
</cp:coreProperties>
</file>