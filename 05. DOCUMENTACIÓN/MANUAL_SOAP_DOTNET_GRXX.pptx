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f5c6bb91-0e32-b2dd-5f81-e10f11d7a6d0}">
          <p14:sldIdLst>
            <p14:sldId id="256"/>
          </p14:sldIdLst>
        </p14:section>
        <p14:section name="Solución" id="{c9f965bf-5839-6057-7111-0a93333a8d86}">
          <p14:sldIdLst>
            <p14:sldId id="257"/>
            <p14:sldId id="258"/>
            <p14:sldId id="259"/>
            <p14:sldId id="260"/>
            <p14:sldId id="261"/>
          </p14:sldIdLst>
        </p14:section>
        <p14:section name="Clientes" id="{2e5837ca-f41e-f4c3-a088-6fd14fc61cb1}">
          <p14:sldIdLst>
            <p14:sldId id="262"/>
            <p14:sldId id="263"/>
            <p14:sldId id="264"/>
            <p14:sldId id="265"/>
            <p14:sldId id="266"/>
          </p14:sldIdLst>
        </p14:section>
        <p14:section name="Calidad" id="{78d7632e-2bc1-dc6b-4f7f-0325a5b90319}">
          <p14:sldIdLst>
            <p14:sldId id="267"/>
            <p14:sldId id="268"/>
          </p14:sldIdLst>
        </p14:section>
        <p14:section name="Cierre" id="{7f151eec-c6ad-479c-c9d5-d9ea6e18260f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 TI.1.2: un servicio SOAP en .NET sin base de datos y cuatro clientes que lo consumen.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lógica está en un solo lugar (el servidor) y cuatro tecnologías distintas la consumen por SOAP.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cuatro clientes hablan SOAP sobre HTTP con WSConversion.svc. El servidor se organiza en Contratos, Servicios y Lógica; las credenciales están en Web.config.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las conversiones reciben un único parámetro 'valor'. Eso simplifica los cuatro clientes.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 izquierda, la petición que envían los clientes. A la derecha, la respuesta correcta y el Fault cuando el valor es imposible.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Mejoras que hacen al sistema más correcto, más fácil de mantener y más claro para el usuario.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cliente más simple: sirve para comprobar que el servicio responde.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sola clase PanelConversion sirve para las tres categorías.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Mismo diseño que el escritorio; en celular el menú pasa arriba.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Aplicación MAUI instalada en una tablet Samsung; se conecta al servidor IIS por la IP de la PC.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usa su propio equipo; el servidor se publica en IIS y los clientes apuntan a la IP de la PC del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Detalle en el ECUD: actores, flujos básicos y alternos de cada caso.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pruebas se ejecutaron con IIS Express y luego en red: servidor en IIS y cada integrante en su propio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A">
    <p:bg>
      <p:bgPr>
        <a:solidFill>
          <a:srgbClr val="004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rgbClr val="004A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004A38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ESPE · Arquitectura de Software · Conversor de Unidades SOAP .NET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signia ⇄"/>
          <p:cNvSpPr/>
          <p:nvPr/>
        </p:nvSpPr>
        <p:spPr>
          <a:xfrm>
            <a:off x="731520" y="731520"/>
            <a:ext cx="1005840" cy="1005840"/>
          </a:xfrm>
          <a:prstGeom prst="ellipse">
            <a:avLst/>
          </a:prstGeom>
          <a:solidFill>
            <a:srgbClr val="006950"/>
          </a:solidFill>
          <a:ln w="12700">
            <a:solidFill>
              <a:srgbClr val="00695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965960" y="8686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EE1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 LAS FUERZAS ARMADAS ESPE · ARQUITECTURA DE SOFTWARE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965960" y="123444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EE1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TI.1.2 · PAO 2026-51 · NRC 36884 · Grupo 1</a:t>
            </a:r>
            <a:endParaRPr lang="en-US" sz="14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21488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Conversor de Unidades SOAP .NET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web SOAP sin base de datos para temperatura, longitud y masa, con clientes de consola, escritorio, web y móvil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9377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EE1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EE1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Wilmer Buestan · Jefferson Masapanta · Moises Benalcazar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EE1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EE1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Eduardo Mauricio Campaña Ortega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BEE1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BEE1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28/10/2026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servicio, cuatro clientes</a:t>
            </a:r>
            <a:endParaRPr lang="en-US" sz="3400" dirty="0"/>
          </a:p>
        </p:txBody>
      </p:sp>
      <p:sp>
        <p:nvSpPr>
          <p:cNvPr id="4" name="Cifra 1"/>
          <p:cNvSpPr/>
          <p:nvPr/>
        </p:nvSpPr>
        <p:spPr>
          <a:xfrm>
            <a:off x="548640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006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6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971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SOAP en WCF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en IIS</a:t>
            </a:r>
            <a:endParaRPr lang="en-US" sz="1600" dirty="0"/>
          </a:p>
        </p:txBody>
      </p:sp>
      <p:sp>
        <p:nvSpPr>
          <p:cNvPr id="7" name="Cifra 4"/>
          <p:cNvSpPr/>
          <p:nvPr/>
        </p:nvSpPr>
        <p:spPr>
          <a:xfrm>
            <a:off x="3364992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64992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600" dirty="0"/>
          </a:p>
        </p:txBody>
      </p:sp>
      <p:sp>
        <p:nvSpPr>
          <p:cNvPr id="9" name="Text 6"/>
          <p:cNvSpPr txBox="1"/>
          <p:nvPr/>
        </p:nvSpPr>
        <p:spPr>
          <a:xfrm>
            <a:off x="3502152" y="2971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clientes: consola,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escritorio, web y móvil</a:t>
            </a:r>
            <a:endParaRPr lang="en-US" sz="1600" dirty="0"/>
          </a:p>
        </p:txBody>
      </p:sp>
      <p:sp>
        <p:nvSpPr>
          <p:cNvPr id="10" name="Cifra 16"/>
          <p:cNvSpPr/>
          <p:nvPr/>
        </p:nvSpPr>
        <p:spPr>
          <a:xfrm>
            <a:off x="6181344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81344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D65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6600" dirty="0"/>
          </a:p>
        </p:txBody>
      </p:sp>
      <p:sp>
        <p:nvSpPr>
          <p:cNvPr id="12" name="Text 9"/>
          <p:cNvSpPr txBox="1"/>
          <p:nvPr/>
        </p:nvSpPr>
        <p:spPr>
          <a:xfrm>
            <a:off x="6318504" y="2971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conversiones en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categorías + login</a:t>
            </a:r>
            <a:endParaRPr lang="en-US" sz="1600" dirty="0"/>
          </a:p>
        </p:txBody>
      </p:sp>
      <p:sp>
        <p:nvSpPr>
          <p:cNvPr id="13" name="Cifra 0"/>
          <p:cNvSpPr/>
          <p:nvPr/>
        </p:nvSpPr>
        <p:spPr>
          <a:xfrm>
            <a:off x="8997696" y="1463040"/>
            <a:ext cx="2560320" cy="2834640"/>
          </a:xfrm>
          <a:prstGeom prst="roundRect">
            <a:avLst>
              <a:gd name="adj" fmla="val 4286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97696" y="169164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7C3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600" dirty="0"/>
          </a:p>
        </p:txBody>
      </p:sp>
      <p:sp>
        <p:nvSpPr>
          <p:cNvPr id="15" name="Text 12"/>
          <p:cNvSpPr txBox="1"/>
          <p:nvPr/>
        </p:nvSpPr>
        <p:spPr>
          <a:xfrm>
            <a:off x="9134856" y="29718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datos: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memoria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70916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pPr indent="0" marL="0">
              <a:buNone/>
            </a:pPr>
            <a:r>
              <a:rPr lang="en-US" sz="1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demostrar la interoperabilidad de SOAP: el mismo contrato WSDL lo consumen .NET Framework, .NET 8 y .NET MAUI en Android sin cambiar el servidor.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solución</a:t>
            </a:r>
            <a:endParaRPr lang="en-US" sz="3400" dirty="0"/>
          </a:p>
        </p:txBody>
      </p:sp>
      <p:pic>
        <p:nvPicPr>
          <p:cNvPr id="4" name="Diagrama de arquitectura" descr="Diagrama de arquitectu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4234" y="1234440"/>
            <a:ext cx="5478251" cy="4983480"/>
          </a:xfrm>
          <a:prstGeom prst="rect">
            <a:avLst/>
          </a:prstGeom>
        </p:spPr>
      </p:pic>
      <p:sp>
        <p:nvSpPr>
          <p:cNvPr id="5" name="Insignia 1"/>
          <p:cNvSpPr/>
          <p:nvPr/>
        </p:nvSpPr>
        <p:spPr>
          <a:xfrm>
            <a:off x="7863840" y="1417320"/>
            <a:ext cx="548640" cy="548640"/>
          </a:xfrm>
          <a:prstGeom prst="ellipse">
            <a:avLst/>
          </a:prstGeom>
          <a:solidFill>
            <a:srgbClr val="006950"/>
          </a:solidFill>
          <a:ln w="12700">
            <a:solidFill>
              <a:srgbClr val="006950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8638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8595360" y="13716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1.1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8595360" y="17373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basicHttpBinding sobre HTTP, puerto 8085</a:t>
            </a:r>
            <a:endParaRPr lang="en-US" sz="1400" dirty="0"/>
          </a:p>
        </p:txBody>
      </p:sp>
      <p:sp>
        <p:nvSpPr>
          <p:cNvPr id="9" name="Insignia 2"/>
          <p:cNvSpPr/>
          <p:nvPr/>
        </p:nvSpPr>
        <p:spPr>
          <a:xfrm>
            <a:off x="7863840" y="2606040"/>
            <a:ext cx="548640" cy="548640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8638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7"/>
          <p:cNvSpPr txBox="1"/>
          <p:nvPr/>
        </p:nvSpPr>
        <p:spPr>
          <a:xfrm>
            <a:off x="859536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WSDL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859536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…/WSConversion.svc?wsdl describe el contrato</a:t>
            </a:r>
            <a:endParaRPr lang="en-US" sz="1400" dirty="0"/>
          </a:p>
        </p:txBody>
      </p:sp>
      <p:sp>
        <p:nvSpPr>
          <p:cNvPr id="13" name="Insignia 3"/>
          <p:cNvSpPr/>
          <p:nvPr/>
        </p:nvSpPr>
        <p:spPr>
          <a:xfrm>
            <a:off x="7863840" y="3794760"/>
            <a:ext cx="548640" cy="548640"/>
          </a:xfrm>
          <a:prstGeom prst="ellipse">
            <a:avLst/>
          </a:prstGeom>
          <a:solidFill>
            <a:srgbClr val="D65D0E"/>
          </a:solidFill>
          <a:ln w="12700">
            <a:solidFill>
              <a:srgbClr val="D65D0E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863840" y="3794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8595360" y="3749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8595360" y="411480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 → Servicios → Lógica</a:t>
            </a:r>
            <a:endParaRPr lang="en-US" sz="1400" dirty="0"/>
          </a:p>
        </p:txBody>
      </p:sp>
      <p:sp>
        <p:nvSpPr>
          <p:cNvPr id="17" name="Insignia 4"/>
          <p:cNvSpPr/>
          <p:nvPr/>
        </p:nvSpPr>
        <p:spPr>
          <a:xfrm>
            <a:off x="7863840" y="4983480"/>
            <a:ext cx="548640" cy="548640"/>
          </a:xfrm>
          <a:prstGeom prst="ellipse">
            <a:avLst/>
          </a:prstGeom>
          <a:solidFill>
            <a:srgbClr val="7C3AAD"/>
          </a:solidFill>
          <a:ln w="12700">
            <a:solidFill>
              <a:srgbClr val="7C3AAD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86384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8595360" y="4937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BDD</a:t>
            </a:r>
            <a:endParaRPr lang="en-US" sz="1800" dirty="0"/>
          </a:p>
        </p:txBody>
      </p:sp>
      <p:sp>
        <p:nvSpPr>
          <p:cNvPr id="20" name="Text 16"/>
          <p:cNvSpPr txBox="1"/>
          <p:nvPr/>
        </p:nvSpPr>
        <p:spPr>
          <a:xfrm>
            <a:off x="8595360" y="530352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 en Web.config, cálculo en memoria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contrato WSConversion</a:t>
            </a:r>
            <a:endParaRPr lang="en-US" sz="3400" dirty="0"/>
          </a:p>
        </p:txBody>
      </p:sp>
      <p:sp>
        <p:nvSpPr>
          <p:cNvPr id="4" name="Categoría Temperatura"/>
          <p:cNvSpPr/>
          <p:nvPr/>
        </p:nvSpPr>
        <p:spPr>
          <a:xfrm>
            <a:off x="548640" y="132588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Insignia °C"/>
          <p:cNvSpPr/>
          <p:nvPr/>
        </p:nvSpPr>
        <p:spPr>
          <a:xfrm>
            <a:off x="777240" y="1508760"/>
            <a:ext cx="731520" cy="731520"/>
          </a:xfrm>
          <a:prstGeom prst="ellipse">
            <a:avLst/>
          </a:prstGeom>
          <a:solidFill>
            <a:srgbClr val="D65D0E"/>
          </a:solidFill>
          <a:ln w="12700">
            <a:solidFill>
              <a:srgbClr val="D65D0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64592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65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423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celsiusAFahrenheit(valor)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fahrenheitACelsius(valor)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celsiusAKelvin(valor)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kelvinACelsius(valor)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fahrenheitAKelvin(valor)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kelvinAFahrenheit(valor)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26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bajo el cero absoluto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(−273.15 °C · −459.67 °F · 0 K)</a:t>
            </a:r>
            <a:endParaRPr lang="en-US" sz="1300" dirty="0"/>
          </a:p>
        </p:txBody>
      </p:sp>
      <p:sp>
        <p:nvSpPr>
          <p:cNvPr id="10" name="Categoría Longitud"/>
          <p:cNvSpPr/>
          <p:nvPr/>
        </p:nvSpPr>
        <p:spPr>
          <a:xfrm>
            <a:off x="4297680" y="132588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Insignia m"/>
          <p:cNvSpPr/>
          <p:nvPr/>
        </p:nvSpPr>
        <p:spPr>
          <a:xfrm>
            <a:off x="4526280" y="1508760"/>
            <a:ext cx="731520" cy="731520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539496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423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metrosAPies(valor)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piesAMetros(valor)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metrosAPulgadas(valor)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pulgadasAMetros(valor)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kilometrosAMillas(valor)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millasAKilometros(valor)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4526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negativa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ft = 0.3048 m · 1 mi = 1.609344 km</a:t>
            </a:r>
            <a:endParaRPr lang="en-US" sz="1300" dirty="0"/>
          </a:p>
        </p:txBody>
      </p:sp>
      <p:sp>
        <p:nvSpPr>
          <p:cNvPr id="16" name="Categoría Masa"/>
          <p:cNvSpPr/>
          <p:nvPr/>
        </p:nvSpPr>
        <p:spPr>
          <a:xfrm>
            <a:off x="8046720" y="1325880"/>
            <a:ext cx="3520440" cy="4160520"/>
          </a:xfrm>
          <a:prstGeom prst="roundRect">
            <a:avLst>
              <a:gd name="adj" fmla="val 3117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7" name="Insignia kg"/>
          <p:cNvSpPr/>
          <p:nvPr/>
        </p:nvSpPr>
        <p:spPr>
          <a:xfrm>
            <a:off x="8275320" y="1508760"/>
            <a:ext cx="731520" cy="731520"/>
          </a:xfrm>
          <a:prstGeom prst="ellipse">
            <a:avLst/>
          </a:prstGeom>
          <a:solidFill>
            <a:srgbClr val="7C3AAD"/>
          </a:solidFill>
          <a:ln w="12700">
            <a:solidFill>
              <a:srgbClr val="7C3AA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75320" y="1508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9144000" y="15544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Masa</a:t>
            </a:r>
            <a:endParaRPr lang="en-US" sz="2200" dirty="0"/>
          </a:p>
        </p:txBody>
      </p:sp>
      <p:sp>
        <p:nvSpPr>
          <p:cNvPr id="20" name="Text 17"/>
          <p:cNvSpPr txBox="1"/>
          <p:nvPr/>
        </p:nvSpPr>
        <p:spPr>
          <a:xfrm>
            <a:off x="8275320" y="24231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kilogramosALibras(valor)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librasAKilogramos(valor)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gramosAOnzas(valor)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onzasAGramos(valor)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45262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negativa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lb = 0.45359237 kg · 1 oz = 28.349523125 g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login(usuario, clave) → bool     ·     Errores: SOAP Fault con ErrorServicio { Codigo, Mensaje 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Así viaja una conversión por SOAP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34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Petición</a:t>
            </a:r>
            <a:endParaRPr lang="en-US" sz="1800" dirty="0"/>
          </a:p>
        </p:txBody>
      </p:sp>
      <p:sp>
        <p:nvSpPr>
          <p:cNvPr id="5" name="Caja petición"/>
          <p:cNvSpPr/>
          <p:nvPr/>
        </p:nvSpPr>
        <p:spPr>
          <a:xfrm>
            <a:off x="548640" y="1645920"/>
            <a:ext cx="5486400" cy="3931920"/>
          </a:xfrm>
          <a:prstGeom prst="roundRect">
            <a:avLst>
              <a:gd name="adj" fmla="val 2326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737360"/>
            <a:ext cx="5303520" cy="374904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/WSConversion.svc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SOAPAction: "http://espe.edu.ec/conuni/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WSConversion/celsiusAFahrenheit"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&lt;s:Envelope xmlns:s="...soap/envelope/"&gt;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&lt;s:Body&gt;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&lt;celsiusAFahrenheit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xmlns="http://espe.edu.ec/conuni/"&gt;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&lt;valor&gt;100&lt;/valor&gt;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&lt;/celsiusAFahrenheit&gt;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&lt;/s:Body&gt;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&lt;/s:Envelope&gt;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12344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correcta</a:t>
            </a:r>
            <a:endParaRPr lang="en-US" sz="1800" dirty="0"/>
          </a:p>
        </p:txBody>
      </p:sp>
      <p:sp>
        <p:nvSpPr>
          <p:cNvPr id="8" name="Caja respuesta"/>
          <p:cNvSpPr/>
          <p:nvPr/>
        </p:nvSpPr>
        <p:spPr>
          <a:xfrm>
            <a:off x="6400800" y="1645920"/>
            <a:ext cx="5212080" cy="1325880"/>
          </a:xfrm>
          <a:prstGeom prst="roundRect">
            <a:avLst>
              <a:gd name="adj" fmla="val 6897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1737360"/>
            <a:ext cx="5029200" cy="118872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&lt;celsiusAFahrenheitResponse&gt;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&lt;celsiusAFahrenheitResult&gt;212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&lt;/celsiusAFahrenheitResult&gt;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&lt;/celsiusAFahrenheitResponse&gt;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32004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imposible (−300 °C)</a:t>
            </a:r>
            <a:endParaRPr lang="en-US" sz="1800" dirty="0"/>
          </a:p>
        </p:txBody>
      </p:sp>
      <p:sp>
        <p:nvSpPr>
          <p:cNvPr id="11" name="Caja fault"/>
          <p:cNvSpPr/>
          <p:nvPr/>
        </p:nvSpPr>
        <p:spPr>
          <a:xfrm>
            <a:off x="6400800" y="3611880"/>
            <a:ext cx="5212080" cy="1965960"/>
          </a:xfrm>
          <a:prstGeom prst="roundRect">
            <a:avLst>
              <a:gd name="adj" fmla="val 4651"/>
            </a:avLst>
          </a:prstGeom>
          <a:solidFill>
            <a:srgbClr val="FDF1EF"/>
          </a:solidFill>
          <a:ln w="12700">
            <a:solidFill>
              <a:srgbClr val="F2C4B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3703320"/>
            <a:ext cx="5029200" cy="182880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&lt;s:Fault&gt;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&lt;faultcode&gt;s:Client&lt;/faultcode&gt;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&lt;detail&gt;&lt;ErrorServicio&gt;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&lt;Codigo&gt;VALOR_INVALIDO&lt;/Codigo&gt;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&lt;Mensaje&gt;La temperatura no puede ser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menor al cero absoluto...&lt;/Mensaje&gt;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diseño</a:t>
            </a:r>
            <a:endParaRPr lang="en-US" sz="3400" dirty="0"/>
          </a:p>
        </p:txBody>
      </p:sp>
      <p:sp>
        <p:nvSpPr>
          <p:cNvPr id="4" name="Decisión 1"/>
          <p:cNvSpPr/>
          <p:nvPr/>
        </p:nvSpPr>
        <p:spPr>
          <a:xfrm>
            <a:off x="54864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Insignia 1"/>
          <p:cNvSpPr/>
          <p:nvPr/>
        </p:nvSpPr>
        <p:spPr>
          <a:xfrm>
            <a:off x="777240" y="1600200"/>
            <a:ext cx="594360" cy="594360"/>
          </a:xfrm>
          <a:prstGeom prst="ellipse">
            <a:avLst/>
          </a:prstGeom>
          <a:solidFill>
            <a:srgbClr val="006950"/>
          </a:solidFill>
          <a:ln w="12700">
            <a:solidFill>
              <a:srgbClr val="0069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exactos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0.3048 m, 0.45359237 kg… en lugar de aproximaciones</a:t>
            </a:r>
            <a:endParaRPr lang="en-US" sz="1400" dirty="0"/>
          </a:p>
        </p:txBody>
      </p:sp>
      <p:sp>
        <p:nvSpPr>
          <p:cNvPr id="9" name="Decisión 2"/>
          <p:cNvSpPr/>
          <p:nvPr/>
        </p:nvSpPr>
        <p:spPr>
          <a:xfrm>
            <a:off x="429768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Insignia 2"/>
          <p:cNvSpPr/>
          <p:nvPr/>
        </p:nvSpPr>
        <p:spPr>
          <a:xfrm>
            <a:off x="4526280" y="1600200"/>
            <a:ext cx="594360" cy="59436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628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257800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en el servidor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331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imposibles responden SOAP Fault con mensaje claro</a:t>
            </a:r>
            <a:endParaRPr lang="en-US" sz="1400" dirty="0"/>
          </a:p>
        </p:txBody>
      </p:sp>
      <p:sp>
        <p:nvSpPr>
          <p:cNvPr id="14" name="Decisión 3"/>
          <p:cNvSpPr/>
          <p:nvPr/>
        </p:nvSpPr>
        <p:spPr>
          <a:xfrm>
            <a:off x="8046720" y="137160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5" name="Insignia 3"/>
          <p:cNvSpPr/>
          <p:nvPr/>
        </p:nvSpPr>
        <p:spPr>
          <a:xfrm>
            <a:off x="8275320" y="1600200"/>
            <a:ext cx="594360" cy="594360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75320" y="16002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9006840" y="160020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configurable</a:t>
            </a:r>
            <a:endParaRPr lang="en-US" sz="17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2331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App.config, appsettings.json y ajustes en el móvil: sin recompilar</a:t>
            </a:r>
            <a:endParaRPr lang="en-US" sz="1400" dirty="0"/>
          </a:p>
        </p:txBody>
      </p:sp>
      <p:sp>
        <p:nvSpPr>
          <p:cNvPr id="19" name="Decisión 4"/>
          <p:cNvSpPr/>
          <p:nvPr/>
        </p:nvSpPr>
        <p:spPr>
          <a:xfrm>
            <a:off x="54864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Insignia 4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rgbClr val="D65D0E"/>
          </a:solidFill>
          <a:ln w="12700">
            <a:solidFill>
              <a:srgbClr val="D65D0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1508760" y="39776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pantalla para todo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16 conversiones; la misma vista sirve a las 3 categorías</a:t>
            </a:r>
            <a:endParaRPr lang="en-US" sz="1400" dirty="0"/>
          </a:p>
        </p:txBody>
      </p:sp>
      <p:sp>
        <p:nvSpPr>
          <p:cNvPr id="24" name="Decisión 5"/>
          <p:cNvSpPr/>
          <p:nvPr/>
        </p:nvSpPr>
        <p:spPr>
          <a:xfrm>
            <a:off x="429768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5" name="Insignia 5"/>
          <p:cNvSpPr/>
          <p:nvPr/>
        </p:nvSpPr>
        <p:spPr>
          <a:xfrm>
            <a:off x="4526280" y="3977640"/>
            <a:ext cx="594360" cy="594360"/>
          </a:xfrm>
          <a:prstGeom prst="ellipse">
            <a:avLst/>
          </a:prstGeom>
          <a:solidFill>
            <a:srgbClr val="7C3AAD"/>
          </a:solidFill>
          <a:ln w="12700">
            <a:solidFill>
              <a:srgbClr val="7C3AA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628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5257800" y="39776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que no se congelan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452628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Llamadas asíncronas en escritorio, web y móvil</a:t>
            </a:r>
            <a:endParaRPr lang="en-US" sz="1400" dirty="0"/>
          </a:p>
        </p:txBody>
      </p:sp>
      <p:sp>
        <p:nvSpPr>
          <p:cNvPr id="29" name="Decisión 6"/>
          <p:cNvSpPr/>
          <p:nvPr/>
        </p:nvSpPr>
        <p:spPr>
          <a:xfrm>
            <a:off x="8046720" y="3749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0" name="Insignia 6"/>
          <p:cNvSpPr/>
          <p:nvPr/>
        </p:nvSpPr>
        <p:spPr>
          <a:xfrm>
            <a:off x="8275320" y="3977640"/>
            <a:ext cx="594360" cy="594360"/>
          </a:xfrm>
          <a:prstGeom prst="ellipse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75320" y="3977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29"/>
          <p:cNvSpPr txBox="1"/>
          <p:nvPr/>
        </p:nvSpPr>
        <p:spPr>
          <a:xfrm>
            <a:off x="9006840" y="397764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Patrón Singleton</a:t>
            </a:r>
            <a:endParaRPr lang="en-US" sz="1700" dirty="0"/>
          </a:p>
        </p:txBody>
      </p:sp>
      <p:sp>
        <p:nvSpPr>
          <p:cNvPr id="33" name="Text 30"/>
          <p:cNvSpPr txBox="1"/>
          <p:nvPr/>
        </p:nvSpPr>
        <p:spPr>
          <a:xfrm>
            <a:off x="8275320" y="47091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instancia de Autenticador, ClienteConversion y ClienteSoap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de consola · CLICON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Framework 4.7.2 · ChannelFactory · MVC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con clave oculta (los 3 intentos los cuenta el servidor)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de categorías y conversiones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 coma o punto decimal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en colores: verde éxito, rojo error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del servidor en App.config</a:t>
            </a:r>
            <a:endParaRPr lang="en-US" sz="1500" dirty="0"/>
          </a:p>
        </p:txBody>
      </p:sp>
      <p:sp>
        <p:nvSpPr>
          <p:cNvPr id="6" name="Marco Menú de la consola"/>
          <p:cNvSpPr/>
          <p:nvPr/>
        </p:nvSpPr>
        <p:spPr>
          <a:xfrm>
            <a:off x="5208833" y="1152144"/>
            <a:ext cx="5630055" cy="240487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Menú de la consola" descr="Menú de la conso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5409" y="1188720"/>
            <a:ext cx="5556903" cy="2331720"/>
          </a:xfrm>
          <a:prstGeom prst="rect">
            <a:avLst/>
          </a:prstGeom>
        </p:spPr>
      </p:pic>
      <p:sp>
        <p:nvSpPr>
          <p:cNvPr id="8" name="Marco Resultado en la consola"/>
          <p:cNvSpPr/>
          <p:nvPr/>
        </p:nvSpPr>
        <p:spPr>
          <a:xfrm>
            <a:off x="5688994" y="3666744"/>
            <a:ext cx="4669733" cy="25877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Resultado en la consola" descr="Resultado en la consol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5570" y="3703320"/>
            <a:ext cx="4596581" cy="2514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de escritorio · CLIESC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5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Forms · .NET Framework 4.7.2 · llamadas asíncronas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 lateral con color por categoría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De / A: solo destinos válidos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⇄ para intercambiar unidades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la sesión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en rojo dentro de la pantalla</a:t>
            </a:r>
            <a:endParaRPr lang="en-US" sz="1500" dirty="0"/>
          </a:p>
        </p:txBody>
      </p:sp>
      <p:sp>
        <p:nvSpPr>
          <p:cNvPr id="6" name="Marco Escritorio: conversión de masa"/>
          <p:cNvSpPr/>
          <p:nvPr/>
        </p:nvSpPr>
        <p:spPr>
          <a:xfrm>
            <a:off x="4352544" y="2107286"/>
            <a:ext cx="7342632" cy="3649267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Escritorio: conversión de masa" descr="Escritorio: conversión de mas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143862"/>
            <a:ext cx="7269480" cy="357611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web · CLIWEB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· .NET 8 · System.ServiceModel.Http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Sesión: sin login no se entra a /Conversion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asíncrono (Task&lt;double&gt;)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antifalsificación en formularios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guardado en la sesión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adaptable a celular</a:t>
            </a:r>
            <a:endParaRPr lang="en-US" sz="1500" dirty="0"/>
          </a:p>
        </p:txBody>
      </p:sp>
      <p:sp>
        <p:nvSpPr>
          <p:cNvPr id="6" name="Marco Web: valor rechazado por el servidor"/>
          <p:cNvSpPr/>
          <p:nvPr/>
        </p:nvSpPr>
        <p:spPr>
          <a:xfrm>
            <a:off x="4352544" y="2378012"/>
            <a:ext cx="5468112" cy="3107817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Web: valor rechazado por el servidor" descr="Web: valor rechazado por el servid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2414588"/>
            <a:ext cx="5394960" cy="3034665"/>
          </a:xfrm>
          <a:prstGeom prst="rect">
            <a:avLst/>
          </a:prstGeom>
        </p:spPr>
      </p:pic>
      <p:sp>
        <p:nvSpPr>
          <p:cNvPr id="8" name="Marco Web en celular"/>
          <p:cNvSpPr/>
          <p:nvPr/>
        </p:nvSpPr>
        <p:spPr>
          <a:xfrm>
            <a:off x="9976104" y="2114872"/>
            <a:ext cx="1719072" cy="3634097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9" name="Web en celular" descr="Web en celul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2151448"/>
            <a:ext cx="1645920" cy="356094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móvil · CLIMOV</a:t>
            </a:r>
            <a:endParaRPr lang="en-US" sz="3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MAUI (sucesor de Xamarin) · C# · Android · HttpClient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35661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Probado en una tablet real por WiFi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SOAP armado a mano + SOAPAction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XDocument lee el resultado o el Fault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Singleton: ClienteSoap y Controlador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del servidor guardada en la app</a:t>
            </a:r>
            <a:endParaRPr lang="en-US" sz="1500" dirty="0"/>
          </a:p>
        </p:txBody>
      </p:sp>
      <p:sp>
        <p:nvSpPr>
          <p:cNvPr id="6" name="Marco Móvil en la tablet"/>
          <p:cNvSpPr/>
          <p:nvPr/>
        </p:nvSpPr>
        <p:spPr>
          <a:xfrm>
            <a:off x="5548884" y="1152144"/>
            <a:ext cx="4949952" cy="2999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pic>
        <p:nvPicPr>
          <p:cNvPr id="7" name="Móvil en la tablet" descr="Móvil en la tabl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5460" y="1188720"/>
            <a:ext cx="4876800" cy="2926080"/>
          </a:xfrm>
          <a:prstGeom prst="rect">
            <a:avLst/>
          </a:prstGeom>
        </p:spPr>
      </p:pic>
      <p:sp>
        <p:nvSpPr>
          <p:cNvPr id="8" name="Caja código móvil"/>
          <p:cNvSpPr/>
          <p:nvPr/>
        </p:nvSpPr>
        <p:spPr>
          <a:xfrm>
            <a:off x="4389120" y="4297680"/>
            <a:ext cx="7269480" cy="1920240"/>
          </a:xfrm>
          <a:prstGeom prst="roundRect">
            <a:avLst>
              <a:gd name="adj" fmla="val 4762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480560" y="4389120"/>
            <a:ext cx="7086600" cy="17373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peticion = new HttpRequestMessage(HttpMethod.Post, destino)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 = new StringContent(sobre, Encoding.UTF8, "text/xml")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peticion.Headers.Add("SOAPAction", $"\"{Namespace}{Contrato}/{operacion}\"");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string? resultado = Buscar(operacion + "Result");   // o el &lt;Mensaje&gt; del Fault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en red por roles</a:t>
            </a:r>
            <a:endParaRPr lang="en-US" sz="3400" dirty="0"/>
          </a:p>
        </p:txBody>
      </p:sp>
      <p:sp>
        <p:nvSpPr>
          <p:cNvPr id="4" name="Rol 1"/>
          <p:cNvSpPr/>
          <p:nvPr/>
        </p:nvSpPr>
        <p:spPr>
          <a:xfrm>
            <a:off x="548640" y="1371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Insignia 1"/>
          <p:cNvSpPr/>
          <p:nvPr/>
        </p:nvSpPr>
        <p:spPr>
          <a:xfrm>
            <a:off x="777240" y="1600200"/>
            <a:ext cx="640080" cy="640080"/>
          </a:xfrm>
          <a:prstGeom prst="ellipse">
            <a:avLst/>
          </a:prstGeom>
          <a:solidFill>
            <a:srgbClr val="006950"/>
          </a:solidFill>
          <a:ln w="12700">
            <a:solidFill>
              <a:srgbClr val="0069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+ consola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560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 WSConversion en IIS con publicar_iis.ps1 (puerto 8085 y firewall)</a:t>
            </a:r>
            <a:endParaRPr lang="en-US" sz="1500" dirty="0"/>
          </a:p>
        </p:txBody>
      </p:sp>
      <p:sp>
        <p:nvSpPr>
          <p:cNvPr id="10" name="Rol 2"/>
          <p:cNvSpPr/>
          <p:nvPr/>
        </p:nvSpPr>
        <p:spPr>
          <a:xfrm>
            <a:off x="4297680" y="1371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Insignia 2"/>
          <p:cNvSpPr/>
          <p:nvPr/>
        </p:nvSpPr>
        <p:spPr>
          <a:xfrm>
            <a:off x="4526280" y="1600200"/>
            <a:ext cx="640080" cy="640080"/>
          </a:xfrm>
          <a:prstGeom prst="ellipse">
            <a:avLst/>
          </a:prstGeom>
          <a:solidFill>
            <a:srgbClr val="1971C2"/>
          </a:solidFill>
          <a:ln w="12700">
            <a:solidFill>
              <a:srgbClr val="1971C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30352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+ escritorio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4526280" y="2560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Otra PC: App.config y appsettings.json con la IP del servidor</a:t>
            </a:r>
            <a:endParaRPr lang="en-US" sz="1500" dirty="0"/>
          </a:p>
        </p:txBody>
      </p:sp>
      <p:sp>
        <p:nvSpPr>
          <p:cNvPr id="16" name="Rol 3"/>
          <p:cNvSpPr/>
          <p:nvPr/>
        </p:nvSpPr>
        <p:spPr>
          <a:xfrm>
            <a:off x="8046720" y="137160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7" name="Insignia 3"/>
          <p:cNvSpPr/>
          <p:nvPr/>
        </p:nvSpPr>
        <p:spPr>
          <a:xfrm>
            <a:off x="8275320" y="1600200"/>
            <a:ext cx="640080" cy="640080"/>
          </a:xfrm>
          <a:prstGeom prst="ellipse">
            <a:avLst/>
          </a:prstGeom>
          <a:solidFill>
            <a:srgbClr val="7C3AAD"/>
          </a:solidFill>
          <a:ln w="12700">
            <a:solidFill>
              <a:srgbClr val="7C3AAD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7532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1600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 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05256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Móvil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275320" y="25603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Celular real por WiFi: URL del servidor en el login de la app</a:t>
            </a:r>
            <a:endParaRPr lang="en-US" sz="1500" dirty="0"/>
          </a:p>
        </p:txBody>
      </p:sp>
      <p:sp>
        <p:nvSpPr>
          <p:cNvPr id="22" name="Caja URL"/>
          <p:cNvSpPr/>
          <p:nvPr/>
        </p:nvSpPr>
        <p:spPr>
          <a:xfrm>
            <a:off x="548640" y="443484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4434840"/>
            <a:ext cx="11109960" cy="10515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4A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http://IP-DEL-SERVIDOR:8085/WSConversion.svc</a:t>
            </a:r>
            <a:endParaRPr lang="en-US" sz="2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669280"/>
            <a:ext cx="11109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IIS Express solo responde a localhost (400 si se usa la IP): por eso el servidor se publica en IIS. Todos en la misma red WiFi.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3400" dirty="0"/>
          </a:p>
        </p:txBody>
      </p:sp>
      <p:pic>
        <p:nvPicPr>
          <p:cNvPr id="4" name="Diagrama de casos de uso" descr="Diagrama de casos de u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0684" y="1234440"/>
            <a:ext cx="6933992" cy="498348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8321040" y="1463040"/>
            <a:ext cx="33375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casos de uso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conversión generaliza temperatura, longitud y masa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 la validación del valor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Intercambiar unidades la extiende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Servicio SOAP es un actor secundario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04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realizadas</a:t>
            </a:r>
            <a:endParaRPr lang="en-US" sz="3400" dirty="0"/>
          </a:p>
        </p:txBody>
      </p:sp>
      <p:sp>
        <p:nvSpPr>
          <p:cNvPr id="4" name="Resumen pruebas"/>
          <p:cNvSpPr/>
          <p:nvPr/>
        </p:nvSpPr>
        <p:spPr>
          <a:xfrm>
            <a:off x="548640" y="1371600"/>
            <a:ext cx="3108960" cy="4754880"/>
          </a:xfrm>
          <a:prstGeom prst="roundRect">
            <a:avLst>
              <a:gd name="adj" fmla="val 3529"/>
            </a:avLst>
          </a:prstGeom>
          <a:solidFill>
            <a:srgbClr val="F3F6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920240"/>
            <a:ext cx="3108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6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15/15</a:t>
            </a:r>
            <a:endParaRPr lang="en-US" sz="6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2004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prueba superados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93192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97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16/16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846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conversiones exactas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371600"/>
          <a:ext cx="7726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57400"/>
                <a:gridCol w="2926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Caso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Entrada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Resultado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9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Login correcto / incorrecto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monster / monster69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Acceso · «Intentos restantes: 2» (servidor)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Celsius → Fahrenheit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100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212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Millas → Kilómetros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1.609344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Kilogramos → Libras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2.204622622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Cero absoluto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−300 °C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SOAP Fault con mensaje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En red, 3 equipos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IP del servidor IIS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Consola, escritorio, web y móvil 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Coma decimal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42,195 km → mi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26.218757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Servidor apagado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puerto sin servicio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«No se pudo conectar…»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Página web sin sesión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/Conversion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12529"/>
                          </a:solidFill>
                        </a:rPr>
                        <a:t>Redirige al login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4000" dirty="0"/>
          </a:p>
        </p:txBody>
      </p:sp>
      <p:sp>
        <p:nvSpPr>
          <p:cNvPr id="3" name="Insignia 1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006950"/>
          </a:solidFill>
          <a:ln w="12700">
            <a:solidFill>
              <a:srgbClr val="00695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92024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permitió que .NET Framework, .NET 8 y .NET MAUI (Android) consuman el mismo servicio sin tocar el servidor.</a:t>
            </a:r>
            <a:endParaRPr lang="en-US" sz="2100" dirty="0"/>
          </a:p>
        </p:txBody>
      </p:sp>
      <p:sp>
        <p:nvSpPr>
          <p:cNvPr id="6" name="Insignia 2"/>
          <p:cNvSpPr/>
          <p:nvPr/>
        </p:nvSpPr>
        <p:spPr>
          <a:xfrm>
            <a:off x="731520" y="3063240"/>
            <a:ext cx="640080" cy="640080"/>
          </a:xfrm>
          <a:prstGeom prst="ellipse">
            <a:avLst/>
          </a:prstGeom>
          <a:solidFill>
            <a:srgbClr val="006950"/>
          </a:solidFill>
          <a:ln w="12700">
            <a:solidFill>
              <a:srgbClr val="0069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063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297180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en el servidor da resultados idénticos en los cuatro clientes y mensajes claros ante valores imposibles.</a:t>
            </a:r>
            <a:endParaRPr lang="en-US" sz="2100" dirty="0"/>
          </a:p>
        </p:txBody>
      </p:sp>
      <p:sp>
        <p:nvSpPr>
          <p:cNvPr id="9" name="Insignia 3"/>
          <p:cNvSpPr/>
          <p:nvPr/>
        </p:nvSpPr>
        <p:spPr>
          <a:xfrm>
            <a:off x="731520" y="4114800"/>
            <a:ext cx="640080" cy="640080"/>
          </a:xfrm>
          <a:prstGeom prst="ellipse">
            <a:avLst/>
          </a:prstGeom>
          <a:solidFill>
            <a:srgbClr val="006950"/>
          </a:solidFill>
          <a:ln w="12700">
            <a:solidFill>
              <a:srgbClr val="00695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402336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Capas en el servidor, MVC en los clientes y Singleton para los objetos compartidos: código simple de mantener.</a:t>
            </a:r>
            <a:endParaRPr lang="en-US" sz="2100" dirty="0"/>
          </a:p>
        </p:txBody>
      </p:sp>
      <p:sp>
        <p:nvSpPr>
          <p:cNvPr id="12" name="Insignia 4"/>
          <p:cNvSpPr/>
          <p:nvPr/>
        </p:nvSpPr>
        <p:spPr>
          <a:xfrm>
            <a:off x="731520" y="5166360"/>
            <a:ext cx="640080" cy="640080"/>
          </a:xfrm>
          <a:prstGeom prst="ellipse">
            <a:avLst/>
          </a:prstGeom>
          <a:solidFill>
            <a:srgbClr val="006950"/>
          </a:solidFill>
          <a:ln w="12700">
            <a:solidFill>
              <a:srgbClr val="0069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507492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base de datos la arquitectura es simple, a cambio de credenciales fijas e historial solo por sesión.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ESPE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Conversor de Unidades SOAP .NET</dc:title>
  <dc:subject>PptxGenJS Presentation</dc:subject>
  <dc:creator>Grupo 1</dc:creator>
  <cp:lastModifiedBy>Grupo 1</cp:lastModifiedBy>
  <cp:revision>1</cp:revision>
  <dcterms:created xsi:type="dcterms:W3CDTF">2026-10-25T14:51:48Z</dcterms:created>
  <dcterms:modified xsi:type="dcterms:W3CDTF">2026-10-25T14:51:48Z</dcterms:modified>
</cp:coreProperties>
</file>