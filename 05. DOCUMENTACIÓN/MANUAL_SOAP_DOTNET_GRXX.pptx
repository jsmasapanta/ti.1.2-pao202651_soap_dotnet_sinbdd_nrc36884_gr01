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3999e03-48e7-cde9-ecfb-4d62311b7404}">
          <p14:sldIdLst>
            <p14:sldId id="256"/>
          </p14:sldIdLst>
        </p14:section>
        <p14:section name="Solución" id="{efa5d2f5-a464-0798-92cc-82a16ba81436}">
          <p14:sldIdLst>
            <p14:sldId id="257"/>
            <p14:sldId id="258"/>
            <p14:sldId id="259"/>
            <p14:sldId id="260"/>
            <p14:sldId id="261"/>
          </p14:sldIdLst>
        </p14:section>
        <p14:section name="Clientes" id="{3f7b6a5b-8936-9734-3e8e-c696ebf117ce}">
          <p14:sldIdLst>
            <p14:sldId id="262"/>
            <p14:sldId id="263"/>
            <p14:sldId id="264"/>
            <p14:sldId id="265"/>
          </p14:sldIdLst>
        </p14:section>
        <p14:section name="Calidad" id="{7146efa9-463a-1b7d-47b8-686824a869ec}">
          <p14:sldIdLst>
            <p14:sldId id="266"/>
            <p14:sldId id="267"/>
          </p14:sldIdLst>
        </p14:section>
        <p14:section name="Cierre" id="{1b594a76-f972-9ed0-62a2-e2a1c8f129a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TI.1.2: un servicio SOAP en .NET sin base de datos y cuatro clientes que lo consumen.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lógica está en un solo lugar (el servidor) y cuatro tecnologías distintas la consumen por SOAP.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clientes hablan SOAP sobre HTTP con WSConversion.svc. El servidor se organiza en Contratos, Servicios y Lógica; las credenciales están en Web.config.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conversiones reciben un único parámetro 'valor'. Eso simplifica los cuatro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la petición que envían los clientes. A la derecha, la respuesta correcta y el Fault cuando el valor es imposible.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que hacen al sistema más correcto, más fácil de mantener y más claro para el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sirve para comprobar que el servicio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clase PanelConversion sirve para las tres categorías.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aquí la app ejecutándose en el emulador.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 de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pruebas se ejecutaron contra el servidor real en IIS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ESPE · Arquitectura de Software · Conversor de Unidades SOAP .NET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⇄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E1D7"/>
                </a:solidFill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E1D7"/>
                </a:solidFill>
              </a:rPr>
              <a:t>TI.1.2 · PAO 2026-50 · NRC XXXXX · Grupo XX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Conversor de Unidades SOAP .NET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Servicio web SOAP sin base de datos para temperatura, longitud y masa,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</a:rPr>
              <a:t>[Integrante 1] · [Integrante 2] · [Integrante 3]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</a:rPr>
              <a:t>17/10/2026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Un servicio, cuatro clientes</a:t>
            </a:r>
            <a:endParaRPr lang="en-US" sz="3400" dirty="0"/>
          </a:p>
        </p:txBody>
      </p:sp>
      <p:sp>
        <p:nvSpPr>
          <p:cNvPr id="4" name="Cifra 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servicio SOAP en WCF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publicado en IIS</a:t>
            </a:r>
            <a:endParaRPr lang="en-US" sz="16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3"/>
                </a:solidFill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clientes: consola,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escritorio, web y móvil</a:t>
            </a:r>
            <a:endParaRPr lang="en-US" sz="1600" dirty="0"/>
          </a:p>
        </p:txBody>
      </p:sp>
      <p:sp>
        <p:nvSpPr>
          <p:cNvPr id="10" name="Cifra 16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16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conversiones 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categorías + login</a:t>
            </a:r>
            <a:endParaRPr lang="en-US" sz="1600" dirty="0"/>
          </a:p>
        </p:txBody>
      </p:sp>
      <p:sp>
        <p:nvSpPr>
          <p:cNvPr id="13" name="Cifra 0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4"/>
                </a:solidFill>
              </a:rPr>
              <a:t>0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bases de datos: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en memoria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demostrar la interoperabilidad de SOAP: el mismo contrato WSDL lo consumen .NET Framework, .NET 8 y Android sin cambiar el servidor.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986" y="1234440"/>
            <a:ext cx="5884748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SOAP 1.1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basicHttpBinding sobre HTTP, puerto 8085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WSDL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…/WSConversion.svc?wsdl describe el contrato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Capas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Contratos → Servicios → Lógica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Sin BDD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Credenciales en Web.config, cálculo en memoria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contrato WSConversion</a:t>
            </a:r>
            <a:endParaRPr lang="en-US" sz="3400" dirty="0"/>
          </a:p>
        </p:txBody>
      </p:sp>
      <p:sp>
        <p:nvSpPr>
          <p:cNvPr id="4" name="Categoría Temperatura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°C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°C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Temperatura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celsiusAFahrenheit(valor)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fahrenheitACelsius(valor)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celsiusAKelvin(valor)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kelvinACelsius(valor)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fahrenheitAKelvin(valor)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kelvinAFahrenheit(valor)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Nunca bajo el cero absoluto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(−273.15 °C · −459.67 °F · 0 K)</a:t>
            </a:r>
            <a:endParaRPr lang="en-US" sz="1300" dirty="0"/>
          </a:p>
        </p:txBody>
      </p:sp>
      <p:sp>
        <p:nvSpPr>
          <p:cNvPr id="10" name="Categoría Longitud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m"/>
          <p:cNvSpPr/>
          <p:nvPr/>
        </p:nvSpPr>
        <p:spPr>
          <a:xfrm>
            <a:off x="4526280" y="15087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Longitud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metrosAPies(valor)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piesAMetros(valor)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metrosAPulgadas(valor)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pulgadasAMetros(valor)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kilometrosAMillas(valor)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millasAKilometros(valor)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1 ft = 0.3048 m · 1 mi = 1.609344 km</a:t>
            </a:r>
            <a:endParaRPr lang="en-US" sz="1300" dirty="0"/>
          </a:p>
        </p:txBody>
      </p:sp>
      <p:sp>
        <p:nvSpPr>
          <p:cNvPr id="16" name="Categoría Masa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kg"/>
          <p:cNvSpPr/>
          <p:nvPr/>
        </p:nvSpPr>
        <p:spPr>
          <a:xfrm>
            <a:off x="8275320" y="15087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1554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Masa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kilogramosALibras(valor)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librasAKilogramos(valor)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gramosAOnzas(valor)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onzasAGramos(valor)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1 lb = 0.45359237 kg · 1 oz = 28.349523125 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+ login(usuario, clave) → bool     ·     Errores: SOAP Fault con ErrorServicio { Codigo, Mensaje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Así viaja una conversión por SOAP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393192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/WSConversion.svc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SOAPAction: "http://espe.edu.ec/conuni/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WSConversion/celsiusAFahrenheit"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&lt;s:Envelope xmlns:s="...soap/envelope/"&gt;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&lt;s:Body&gt;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&lt;celsiusAFahrenheit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xmlns="http://espe.edu.ec/conuni/"&gt;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&lt;valor&gt;100&lt;/valor&gt;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&lt;/celsiusAFahrenheit&gt;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&lt;/s:Body&gt;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&lt;/s:Envelope&gt;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Respuesta correcta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1887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&lt;celsiusAFahrenheitResponse&gt;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&lt;celsiusAFahrenheitResult&gt;212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&lt;/celsiusAFahrenheitResult&gt;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&lt;/celsiusAFahrenheitResponse&gt;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200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Valor imposible (−300 °C)</a:t>
            </a:r>
            <a:endParaRPr lang="en-US" sz="1800" dirty="0"/>
          </a:p>
        </p:txBody>
      </p:sp>
      <p:sp>
        <p:nvSpPr>
          <p:cNvPr id="11" name="Caja fault"/>
          <p:cNvSpPr/>
          <p:nvPr/>
        </p:nvSpPr>
        <p:spPr>
          <a:xfrm>
            <a:off x="6400800" y="361188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DF1EF"/>
          </a:solidFill>
          <a:ln w="12700">
            <a:solidFill>
              <a:srgbClr val="F2C4B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703320"/>
            <a:ext cx="5029200" cy="18288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&lt;s:Fault&gt;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&lt;faultcode&gt;s:Client&lt;/faultcode&gt;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&lt;detail&gt;&lt;ErrorServicio&gt;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&lt;Codigo&gt;VALOR_INVALIDO&lt;/Codigo&gt;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&lt;Mensaje&gt;La temperatura no puede 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menor al cero absoluto...&lt;/Mensaje&gt;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Factores exactos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0.3048 m, 0.45359237 kg… en lugar de aproximaciones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Validación en el servidor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Valores imposibles responden SOAP Fault con mensaje claro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Servidor configurable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App.config, appsettings.json y ajustes en el móvil: sin recompilar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Una pantalla para todo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Catálogo de 16 conversiones; la misma vista sirve a las 3 categorías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Clientes que no se congelan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Llamadas asíncronas en escritorio, web y móvil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Móvil sin librerías SOAP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HttpURLConnection + XmlPullParser en lugar de ksoap2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.NET Framework 4.7.2 · ChannelFactory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Login con clave oculta y 3 intentos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Menú de categorías y conversiones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Acepta coma o punto decimal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Mensajes en colores: verde éxito, rojo error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Menú de la consola"/>
          <p:cNvSpPr/>
          <p:nvPr/>
        </p:nvSpPr>
        <p:spPr>
          <a:xfrm>
            <a:off x="5208833" y="1152144"/>
            <a:ext cx="5630055" cy="2404872"/>
          </a:xfrm>
          <a:prstGeom prst="rect">
            <a:avLst/>
          </a:prstGeom>
          <a:solidFill>
            <a:schemeClr val="bg1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enú de la consola" descr="Menú de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5409" y="1188720"/>
            <a:ext cx="5556903" cy="2331720"/>
          </a:xfrm>
          <a:prstGeom prst="rect">
            <a:avLst/>
          </a:prstGeom>
        </p:spPr>
      </p:pic>
      <p:sp>
        <p:nvSpPr>
          <p:cNvPr id="8" name="Marco Resultado en la consola"/>
          <p:cNvSpPr/>
          <p:nvPr/>
        </p:nvSpPr>
        <p:spPr>
          <a:xfrm>
            <a:off x="5688994" y="3666744"/>
            <a:ext cx="4669733" cy="2587752"/>
          </a:xfrm>
          <a:prstGeom prst="rect">
            <a:avLst/>
          </a:prstGeom>
          <a:solidFill>
            <a:schemeClr val="bg1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Resultado en la consola" descr="Resultado en la conso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570" y="3703320"/>
            <a:ext cx="4596581" cy="2514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Menú lateral con color por categoría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Listas De / A: solo destinos válidos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Botón ⇄ para intercambiar unidades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Historial de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Errores en rojo dentro de la pantalla</a:t>
            </a:r>
            <a:endParaRPr lang="en-US" sz="1500" dirty="0"/>
          </a:p>
        </p:txBody>
      </p:sp>
      <p:sp>
        <p:nvSpPr>
          <p:cNvPr id="6" name="Marco Escritorio: conversión de masa"/>
          <p:cNvSpPr/>
          <p:nvPr/>
        </p:nvSpPr>
        <p:spPr>
          <a:xfrm>
            <a:off x="4352544" y="2107286"/>
            <a:ext cx="7342632" cy="3649267"/>
          </a:xfrm>
          <a:prstGeom prst="rect">
            <a:avLst/>
          </a:prstGeom>
          <a:solidFill>
            <a:schemeClr val="bg1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conversión de masa" descr="Escritorio: conversión de mas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43862"/>
            <a:ext cx="7269480" cy="357611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ASP.NET Core MVC · .NET 8 · System.ServiceModel.Http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Sesión: sin login no se entra a /Conversion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Contrato asíncrono (Task&lt;double&gt;)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Historial guardado en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valor rechazado por el servidor"/>
          <p:cNvSpPr/>
          <p:nvPr/>
        </p:nvSpPr>
        <p:spPr>
          <a:xfrm>
            <a:off x="4352544" y="2378012"/>
            <a:ext cx="5468112" cy="3107817"/>
          </a:xfrm>
          <a:prstGeom prst="rect">
            <a:avLst/>
          </a:prstGeom>
          <a:solidFill>
            <a:schemeClr val="bg1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valor rechazado por el servidor" descr="Web: valor rechazado por 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414588"/>
            <a:ext cx="5394960" cy="3034665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9976104" y="2114872"/>
            <a:ext cx="1719072" cy="3634097"/>
          </a:xfrm>
          <a:prstGeom prst="rect">
            <a:avLst/>
          </a:prstGeom>
          <a:solidFill>
            <a:schemeClr val="bg1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151448"/>
            <a:ext cx="1645920" cy="356094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Android · Kotlin · corrutinas · sin librerías SOAP externas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sobre SOAP se arma a mano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XmlPullParser lee el resultado o el Fault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Servidor configurable desde la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Pestañas por categoría y botón ⇅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Emulador: http://10.0.2.2:8085</a:t>
            </a:r>
            <a:endParaRPr lang="en-US" sz="1500" dirty="0"/>
          </a:p>
        </p:txBody>
      </p:sp>
      <p:sp>
        <p:nvSpPr>
          <p:cNvPr id="6" name="Caja código móvil"/>
          <p:cNvSpPr/>
          <p:nvPr/>
        </p:nvSpPr>
        <p:spPr>
          <a:xfrm>
            <a:off x="4389120" y="1691640"/>
            <a:ext cx="4206240" cy="393192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80560" y="1783080"/>
            <a:ext cx="402336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conexion.requestMethod = "POST"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conexion.setRequestProperty(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"Content-Type",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"text/xml; charset=utf-8")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conexion.setRequestProperty(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"SOAPAction",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"\"$NAMESPACE$CONTRATO/$operacion\"")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(parser.name)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"${operacion}Result" -&gt;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resultado = parser.nextText()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 -&gt;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mensajeError = parser.nextText()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Espacio captura móvil"/>
          <p:cNvSpPr/>
          <p:nvPr/>
        </p:nvSpPr>
        <p:spPr>
          <a:xfrm>
            <a:off x="8869680" y="1691640"/>
            <a:ext cx="2788920" cy="4480560"/>
          </a:xfrm>
          <a:prstGeom prst="roundRect">
            <a:avLst>
              <a:gd name="adj" fmla="val 3279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8869680" y="1691640"/>
            <a:ext cx="2788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Insertar captura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del emulador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684" y="1234440"/>
            <a:ext cx="6933992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8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Realizar conversión generaliza temperatura, longitud y masa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Incluye la validación del valor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Intercambiar unidades la extiende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Servicio SOAP es un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16/16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conversiones exactas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57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Login correcto / incorrecto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espe / clave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Acceso · «Intentos restantes: 2»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Celsius → Fahrenheit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Millas → Kilómetros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1.609344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Kilogramos → Libras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2.204622622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Cero absoluto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−300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SOAP Fault con mensaje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Masa negativa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−1 oz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SOAP Fault con mensaje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Coma decimal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42,195 km → mi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26.218757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Servidor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puerto sin servicio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Página web sin sesión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/Conversion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Redirige al 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SOAP permitió que .NET Framework, .NET 8 y Android consuman el mismo servicio sin tocar el servidor.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Validar en el servidor da resultados idénticos en los cuatro clientes y mensajes claros ante valores imposibles.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Capas en el servidor y MVC en los clientes: una conversión nueva es una línea en el catálogo.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Sin base de datos la arquitectura es simple, a cambio de credenciales fijas e historial solo por sesión.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versor ESPE">
  <a:themeElements>
    <a:clrScheme name="Conversor ESPE">
      <a:dk1>
        <a:srgbClr val="212529"/>
      </a:dk1>
      <a:lt1>
        <a:srgbClr val="FFFFFF"/>
      </a:lt1>
      <a:dk2>
        <a:srgbClr val="004A38"/>
      </a:dk2>
      <a:lt2>
        <a:srgbClr val="F3F6F5"/>
      </a:lt2>
      <a:accent1>
        <a:srgbClr val="006950"/>
      </a:accent1>
      <a:accent2>
        <a:srgbClr val="D65D0E"/>
      </a:accent2>
      <a:accent3>
        <a:srgbClr val="1971C2"/>
      </a:accent3>
      <a:accent4>
        <a:srgbClr val="7C3AAD"/>
      </a:accent4>
      <a:accent5>
        <a:srgbClr val="C0392B"/>
      </a:accent5>
      <a:accent6>
        <a:srgbClr val="6C757D"/>
      </a:accent6>
      <a:hlink>
        <a:srgbClr val="1971C2"/>
      </a:hlink>
      <a:folHlink>
        <a:srgbClr val="7C3AAD"/>
      </a:folHlink>
    </a:clrScheme>
    <a:fontScheme name="Conversor ESP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Conversor de Unidades SOAP .NET</dc:title>
  <dc:subject>PptxGenJS Presentation</dc:subject>
  <dc:creator>Grupo XX</dc:creator>
  <cp:lastModifiedBy>Grupo XX</cp:lastModifiedBy>
  <cp:revision>1</cp:revision>
  <dcterms:created xsi:type="dcterms:W3CDTF">2026-10-17T16:54:34Z</dcterms:created>
  <dcterms:modified xsi:type="dcterms:W3CDTF">2026-10-17T16:54:34Z</dcterms:modified>
</cp:coreProperties>
</file>